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 Mohit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 Intelligent Candidate Discovery &amp; Ranking — rank a 100,000-candidate pool for Redrob's Senior AI Engineer JD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 Mohit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800"/>
              </a:spcBef>
              <a:spcAft>
                <a:spcPts val="2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b="1" sz="1300">
                <a:solidFill>
                  <a:srgbClr val="C01F2E"/>
                </a:solidFill>
              </a:rPr>
              <a:t>What is your proposed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A deterministic, explainable ranking engine:  score = fit × trust × behavioral × logistics.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Fit is mined from what candidates DID (career-history text) — never from the self-declared skills list.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Pure Python standard library: 100K candidates ranked in ~56 s on CPU, ~275 MB RAM, no network, no GPU.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C01F2E"/>
                </a:solidFill>
              </a:rPr>
              <a:t>What differentiates it from traditional candidate matching?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Traditional matchers count keyword overlap; ours scores evidence of shipped retrieval / ranking / evaluation work.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Keyword stuffers (non-engineering titles with AI skill lists) are gated to 5% of their score.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A trust layer mathematically excludes honeypots — profiles with impossible claims — without special-casing.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Availability-aware: dormant, unresponsive, or logistically un-hirable candidates are down-weighted.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</a:t>
            </a: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800"/>
              </a:spcBef>
              <a:spcAft>
                <a:spcPts val="2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b="1" sz="1300">
                <a:solidFill>
                  <a:srgbClr val="C01F2E"/>
                </a:solidFill>
              </a:rPr>
              <a:t>Key requirements extracted from the JD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Must-have: production embeddings/vector retrieval, ranking/recsys at scale, evaluation rigor (NDCG, MRR, offline↔online correlation, A/B), strong Python.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Profile: 5–9 yrs (ideal 6–8), product-company background, hands-on; Pune/Noida or Tier-1 India; short notice period.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Anti-patterns: consulting-only careers, research-only, CV/speech-only, title-chasers, keyword stuffers.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C01F2E"/>
                </a:solidFill>
              </a:rPr>
              <a:t>Signals that matter most — evaluating fit beyond keyword matching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Career descriptions (what they shipped) carry the weight; the skills list earns only weak, assessment-corroborated credit.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Claim consistency (trust), last-active recency + recruiter response rate (reachability), logistics feasibility.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Word-boundary phrase matching, so 'storage' never matches 'RAG' — no naive keyword hits.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800"/>
              </a:spcBef>
              <a:spcAft>
                <a:spcPts val="2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b="1" sz="1300">
                <a:solidFill>
                  <a:srgbClr val="C01F2E"/>
                </a:solidFill>
              </a:rPr>
              <a:t>Retrieve, score, rank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•  One streaming pass over candidates.jsonl; every candidate scored independently — O(N), 100K in ~56 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C01F2E"/>
                </a:solidFill>
              </a:rPr>
              <a:t>Models, algorithms, heuristics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•  Fit: 6 phrase-evidence groups (retrieval, ranking, evaluation, scale, LLM stack, applied ML) + title family + soft 6–8 yr experience peak + product/domain/education/GitHub credits − JD anti-pattern penalties.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•  Trust: count of profile impossibilities → multiplier cliff 1.0 → 0.10 (honeypots cluster at 3+ violations).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•  Behavioral ×0.55–1.12 (recency, response rate, open-to-work, interview completion); Logistics ×0.70–1.10 (city tier, notice, relocation).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C01F2E"/>
                </a:solidFill>
              </a:rPr>
              <a:t>Combining signals into the final ranking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•  final = fit × trust × behavioral × logistics — multiplicative gates: a candidate must clear all four.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•  Scores rounded, then sorted by (−score, candidate_id) for spec-exact monotonicity and tie-breaking.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800"/>
              </a:spcBef>
              <a:spcAft>
                <a:spcPts val="2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b="1" sz="1300">
                <a:solidFill>
                  <a:srgbClr val="C01F2E"/>
                </a:solidFill>
              </a:rPr>
              <a:t>How ranking decisions are explained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•  Every factor is stored per candidate; --explain prints the factor-by-factor breakdown for any rank.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•  Each CSV row's reasoning is assembled from that candidate's extracted facts plus its single most significant honest concern.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C01F2E"/>
                </a:solidFill>
              </a:rPr>
              <a:t>Preventing hallucinations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•  No LLM in the ranking path — reasoning is templated only from observed profile facts, so unsupported claims are impossible by construction.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•  Sentence frames rotate on md5(candidate_id): varied wording, fully reproducible.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C01F2E"/>
                </a:solidFill>
              </a:rPr>
              <a:t>Handling inconsistent, low-quality, or suspicious profiles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•  Impossibility checks: more months of a tech than it has existed (e.g. 88 mo of Pinecone), claimed years the career span cannot contain, jobs predating the employer's founding, 'expert' skills with ~0 months of use.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•  Honest profiles carry 0–2 noisy violations; honeypots cluster at 3+ and fall off the trust cliff — 0 flagged profiles in our top-100.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800"/>
              </a:spcBef>
              <a:spcAft>
                <a:spcPts val="2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b="1" sz="1300">
                <a:solidFill>
                  <a:srgbClr val="C01F2E"/>
                </a:solidFill>
              </a:rPr>
              <a:t>From JD input to ranked candidate output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1.  Stream candidates.jsonl (.gz supported) — one pass, constant memory.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2.  Extract phrase evidence from career descriptions, summary, and headline.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3.  Score structured fit: title family, experience band, corroborated skills, company background, JD anti-pattern penalties.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4.  Count trust violations; compute behavioral and logistics multipliers.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5.  Combine into the final score; round; sort by (−score, candidate_id).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6.  Generate fact-based reasoning for each of the top 100.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7.  Write the CSV → built-in self-check (honeypot histogram, gated titles, score range) → official validator passes.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320040" y="2240280"/>
            <a:ext cx="1325880" cy="86868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C0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2222"/>
                </a:solidFill>
              </a:rPr>
              <a:t>candidates.jsonl</a:t>
            </a:r>
          </a:p>
          <a:p>
            <a:pPr algn="ctr"/>
            <a:r>
              <a:rPr sz="850" b="0">
                <a:solidFill>
                  <a:srgbClr val="222222"/>
                </a:solidFill>
              </a:rPr>
              <a:t>100K profiles,</a:t>
            </a:r>
          </a:p>
          <a:p>
            <a:pPr algn="ctr"/>
            <a:r>
              <a:rPr sz="850" b="0">
                <a:solidFill>
                  <a:srgbClr val="222222"/>
                </a:solidFill>
              </a:rPr>
              <a:t>streamed once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148840" y="1325880"/>
            <a:ext cx="2331720" cy="77724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C0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2222"/>
                </a:solidFill>
              </a:rPr>
              <a:t>Evidence extractor → Fit</a:t>
            </a:r>
          </a:p>
          <a:p>
            <a:pPr algn="ctr"/>
            <a:r>
              <a:rPr sz="850" b="0">
                <a:solidFill>
                  <a:srgbClr val="222222"/>
                </a:solidFill>
              </a:rPr>
              <a:t>career text, title, YoE, skills,</a:t>
            </a:r>
          </a:p>
          <a:p>
            <a:pPr algn="ctr"/>
            <a:r>
              <a:rPr sz="850" b="0">
                <a:solidFill>
                  <a:srgbClr val="222222"/>
                </a:solidFill>
              </a:rPr>
              <a:t>JD anti-pattern penalties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148840" y="2286000"/>
            <a:ext cx="2331720" cy="77724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C0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2222"/>
                </a:solidFill>
              </a:rPr>
              <a:t>Trust checker</a:t>
            </a:r>
          </a:p>
          <a:p>
            <a:pPr algn="ctr"/>
            <a:r>
              <a:rPr sz="850" b="0">
                <a:solidFill>
                  <a:srgbClr val="222222"/>
                </a:solidFill>
              </a:rPr>
              <a:t>impossible-claim violations</a:t>
            </a:r>
          </a:p>
          <a:p>
            <a:pPr algn="ctr"/>
            <a:r>
              <a:rPr sz="850" b="0">
                <a:solidFill>
                  <a:srgbClr val="222222"/>
                </a:solidFill>
              </a:rPr>
              <a:t>(honeypot defense)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148840" y="3246120"/>
            <a:ext cx="2331720" cy="77724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C0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2222"/>
                </a:solidFill>
              </a:rPr>
              <a:t>Behavioral + Logistics</a:t>
            </a:r>
          </a:p>
          <a:p>
            <a:pPr algn="ctr"/>
            <a:r>
              <a:rPr sz="850" b="0">
                <a:solidFill>
                  <a:srgbClr val="222222"/>
                </a:solidFill>
              </a:rPr>
              <a:t>activity, response rate,</a:t>
            </a:r>
          </a:p>
          <a:p>
            <a:pPr algn="ctr"/>
            <a:r>
              <a:rPr sz="850" b="0">
                <a:solidFill>
                  <a:srgbClr val="222222"/>
                </a:solidFill>
              </a:rPr>
              <a:t>city, notice, relocation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983480" y="2240280"/>
            <a:ext cx="1691640" cy="868680"/>
          </a:xfrm>
          <a:prstGeom prst="roundRect">
            <a:avLst/>
          </a:prstGeom>
          <a:solidFill>
            <a:srgbClr val="C01F2E"/>
          </a:solidFill>
          <a:ln w="15875">
            <a:solidFill>
              <a:srgbClr val="C0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Score combiner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fit × trust ×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behavioral × logistics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178040" y="1554480"/>
            <a:ext cx="1691640" cy="77724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C0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2222"/>
                </a:solidFill>
              </a:rPr>
              <a:t>Reasoning generator</a:t>
            </a:r>
          </a:p>
          <a:p>
            <a:pPr algn="ctr"/>
            <a:r>
              <a:rPr sz="850" b="0">
                <a:solidFill>
                  <a:srgbClr val="222222"/>
                </a:solidFill>
              </a:rPr>
              <a:t>facts-only, honest</a:t>
            </a:r>
          </a:p>
          <a:p>
            <a:pPr algn="ctr"/>
            <a:r>
              <a:rPr sz="850" b="0">
                <a:solidFill>
                  <a:srgbClr val="222222"/>
                </a:solidFill>
              </a:rPr>
              <a:t>concerns, no LLM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178040" y="3017520"/>
            <a:ext cx="1691640" cy="77724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C0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22222"/>
                </a:solidFill>
              </a:rPr>
              <a:t>submission.csv</a:t>
            </a:r>
          </a:p>
          <a:p>
            <a:pPr algn="ctr"/>
            <a:r>
              <a:rPr sz="850" b="0">
                <a:solidFill>
                  <a:srgbClr val="222222"/>
                </a:solidFill>
              </a:rPr>
              <a:t>top-100, self-checked,</a:t>
            </a:r>
          </a:p>
          <a:p>
            <a:pPr algn="ctr"/>
            <a:r>
              <a:rPr sz="850" b="0">
                <a:solidFill>
                  <a:srgbClr val="222222"/>
                </a:solidFill>
              </a:rPr>
              <a:t>validator-clean</a:t>
            </a:r>
          </a:p>
        </p:txBody>
      </p:sp>
      <p:cxnSp>
        <p:nvCxnSpPr>
          <p:cNvPr id="106" name="Connector 105"/>
          <p:cNvCxnSpPr/>
          <p:nvPr/>
        </p:nvCxnSpPr>
        <p:spPr>
          <a:xfrm flipV="1">
            <a:off x="1645920" y="1719072"/>
            <a:ext cx="502920" cy="950976"/>
          </a:xfrm>
          <a:prstGeom prst="line">
            <a:avLst/>
          </a:prstGeom>
          <a:ln w="254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645920" y="2670048"/>
            <a:ext cx="502920" cy="0"/>
          </a:xfrm>
          <a:prstGeom prst="line">
            <a:avLst/>
          </a:prstGeom>
          <a:ln w="254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645920" y="2670048"/>
            <a:ext cx="502920" cy="960120"/>
          </a:xfrm>
          <a:prstGeom prst="line">
            <a:avLst/>
          </a:prstGeom>
          <a:ln w="254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4480560" y="1719072"/>
            <a:ext cx="502920" cy="795528"/>
          </a:xfrm>
          <a:prstGeom prst="line">
            <a:avLst/>
          </a:prstGeom>
          <a:ln w="254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4480560" y="2670048"/>
            <a:ext cx="502920" cy="0"/>
          </a:xfrm>
          <a:prstGeom prst="line">
            <a:avLst/>
          </a:prstGeom>
          <a:ln w="254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480560" y="2880360"/>
            <a:ext cx="502920" cy="749808"/>
          </a:xfrm>
          <a:prstGeom prst="line">
            <a:avLst/>
          </a:prstGeom>
          <a:ln w="254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75120" y="1938528"/>
            <a:ext cx="502920" cy="576072"/>
          </a:xfrm>
          <a:prstGeom prst="line">
            <a:avLst/>
          </a:prstGeom>
          <a:ln w="254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675120" y="2880360"/>
            <a:ext cx="502920" cy="521208"/>
          </a:xfrm>
          <a:prstGeom prst="line">
            <a:avLst/>
          </a:prstGeom>
          <a:ln w="254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20040" y="4343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777777"/>
                </a:solidFill>
              </a:rPr>
              <a:t>Single deterministic pass, Python stdlib only — every stage CPU-cheap and auditable; multiplicative gates mean a candidate must be a real fit AND credible AND reachable AND hirable.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800"/>
              </a:spcBef>
              <a:spcAft>
                <a:spcPts val="2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b="1" sz="1300">
                <a:solidFill>
                  <a:srgbClr val="C01F2E"/>
                </a:solidFill>
              </a:rPr>
              <a:t>Results demonstrating ranking quality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Top-100: 92% inside the JD's 5–9 yr band, all ML/search/recsys titles, 96% India-based.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0 honeypot-flagged profiles in the top-100, verified by an independent recheck (disqualification threshold: &gt;10%).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Keyword-stuffer traps eliminated: the bundle's sample ranks HR Managers #1–2; ours ranks engineers who shipped search/recsys.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12 unit tests cover every trap; the output passes the official validate_submission.py.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300">
                <a:solidFill>
                  <a:srgbClr val="C01F2E"/>
                </a:solidFill>
              </a:rPr>
              <a:t>Meeting the runtime and compute constraints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~56 s wall-clock and ~275 MB peak RAM for the full 100K pool (limits: 5 min, 16 GB).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•  CPU-only, zero network, zero GPU — and deterministic: byte-identical CSV across reruns (md5-verified).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800"/>
              </a:spcBef>
              <a:spcAft>
                <a:spcPts val="2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b="1" sz="1300">
                <a:solidFill>
                  <a:srgbClr val="C01F2E"/>
                </a:solidFill>
              </a:rPr>
              <a:t>Technologies and why they were selected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•  Python 3 standard library only (json, csv, re, gzip, hashlib, datetime, unittest) — fits the 5-minute CPU budget, reproduces exactly in the Stage-3 Docker sandbox, zero dependency risk.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•  Deliberately NO embedding model or LLM in the ranking path: the deciding signals are categorical (shipped ranking work? consistent claims? reachable?) — phrase-level evidence captures them explainably at a fraction of the cost.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•  Streamlit — hosted sandbox UI only (sandbox/app.py), running the exact same ranking pipeline on uploaded samples.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•  Git + GitHub for iteration history; Claude used for AI-assisted development (declared in submission metadata).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b="1" sz="1300">
                <a:solidFill>
                  <a:srgbClr val="C01F2E"/>
                </a:solidFill>
              </a:rPr>
              <a:t>Everything reviewers need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•  GitHub repo:  https://github.com/Mohit-45/redrob-ranker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•  Submission CSV:  submission.csv — top-100, validator-clean.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•  Hosted sandbox:  https://redrob-ranker-mohit.streamlit.app — runs the exact ranking pipeline in the browser.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•  Demo sample:  examples/sample_200.jsonl — upload it in the sandbox for a one-click demo.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•  Metadata:  submission_metadata.yaml — team, compute environment, AI declaration, methodology summary.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•  This deck:  Google Slides (link-viewable).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</a:rPr>
              <a:t>•  Demo video:  (add link here if you record one).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